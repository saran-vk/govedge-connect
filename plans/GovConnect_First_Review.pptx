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1645920"/>
          </a:xfrm>
          <a:prstGeom prst="rect">
            <a:avLst/>
          </a:prstGeom>
          <a:noFill/>
        </p:spPr>
        <p:txBody>
          <a:bodyPr wrap="square">
            <a:spAutoFit/>
          </a:bodyPr>
          <a:lstStyle/>
          <a:p>
            <a:pPr>
              <a:spcAft>
                <a:spcPts val="1000"/>
              </a:spcAft>
              <a:defRPr sz="1600" b="1">
                <a:solidFill>
                  <a:srgbClr val="800000"/>
                </a:solidFill>
                <a:latin typeface="Cambria"/>
              </a:defRPr>
            </a:pPr>
            <a:r>
              <a:t>ACADEMIC YEAR 2026 - 27 | S5 PROJECT WORK I - FIRST REVIEW</a:t>
            </a:r>
          </a:p>
          <a:p>
            <a:pPr>
              <a:defRPr sz="2400" b="1">
                <a:solidFill>
                  <a:srgbClr val="002060"/>
                </a:solidFill>
                <a:latin typeface="Cambria"/>
              </a:defRPr>
            </a:pPr>
            <a:r>
              <a:t>GovConnect Edge: A Dialect-Adaptive, Voice-to-Voice Gateway for Inclusive e-Governance</a:t>
            </a:r>
          </a:p>
        </p:txBody>
      </p:sp>
      <p:sp>
        <p:nvSpPr>
          <p:cNvPr id="3" name="TextBox 2"/>
          <p:cNvSpPr txBox="1"/>
          <p:nvPr/>
        </p:nvSpPr>
        <p:spPr>
          <a:xfrm>
            <a:off x="731520" y="2194560"/>
            <a:ext cx="10728655" cy="4114800"/>
          </a:xfrm>
          <a:prstGeom prst="rect">
            <a:avLst/>
          </a:prstGeom>
          <a:noFill/>
        </p:spPr>
        <p:txBody>
          <a:bodyPr wrap="square">
            <a:spAutoFit/>
          </a:bodyPr>
          <a:lstStyle/>
          <a:p/>
          <a:p>
            <a:pPr>
              <a:spcAft>
                <a:spcPts val="400"/>
              </a:spcAft>
              <a:defRPr sz="2000" b="1">
                <a:solidFill>
                  <a:srgbClr val="660066"/>
                </a:solidFill>
                <a:latin typeface="Cambria"/>
              </a:defRPr>
            </a:pPr>
            <a:r>
              <a:t>PROJECT TEAM MEMBERS:</a:t>
            </a:r>
          </a:p>
          <a:p>
            <a:pPr>
              <a:spcAft>
                <a:spcPts val="400"/>
              </a:spcAft>
              <a:defRPr sz="1800" b="0">
                <a:solidFill>
                  <a:srgbClr val="000000"/>
                </a:solidFill>
                <a:latin typeface="Cambria"/>
              </a:defRPr>
            </a:pPr>
            <a:r>
              <a:t>• SANJAY RATHINAM M. N. (Reg. No. 7376242AD288) — Student 1 (Speech &amp; Language AI)</a:t>
            </a:r>
          </a:p>
          <a:p>
            <a:pPr>
              <a:spcAft>
                <a:spcPts val="400"/>
              </a:spcAft>
              <a:defRPr sz="1800" b="0">
                <a:solidFill>
                  <a:srgbClr val="000000"/>
                </a:solidFill>
                <a:latin typeface="Cambria"/>
              </a:defRPr>
            </a:pPr>
            <a:r>
              <a:t>• SARAN V (Reg. No. 7376242AD294) — Student 2 (NLU, RAG &amp; Edge Systems)</a:t>
            </a:r>
          </a:p>
          <a:p>
            <a:pPr>
              <a:spcAft>
                <a:spcPts val="400"/>
              </a:spcAft>
              <a:defRPr sz="1000" b="0">
                <a:solidFill>
                  <a:srgbClr val="000000"/>
                </a:solidFill>
                <a:latin typeface="Cambria"/>
              </a:defRPr>
            </a:pPr>
          </a:p>
          <a:p>
            <a:pPr>
              <a:spcAft>
                <a:spcPts val="400"/>
              </a:spcAft>
              <a:defRPr sz="2000" b="1">
                <a:solidFill>
                  <a:srgbClr val="660066"/>
                </a:solidFill>
                <a:latin typeface="Cambria"/>
              </a:defRPr>
            </a:pPr>
            <a:r>
              <a:t>PROJECT GUIDE:</a:t>
            </a:r>
          </a:p>
          <a:p>
            <a:pPr>
              <a:spcAft>
                <a:spcPts val="400"/>
              </a:spcAft>
              <a:defRPr sz="1800" b="0">
                <a:solidFill>
                  <a:srgbClr val="000000"/>
                </a:solidFill>
                <a:latin typeface="Cambria"/>
              </a:defRPr>
            </a:pPr>
            <a:r>
              <a:t>• Prof. POORNIMA A, Assistant Professor, Department of Artificial Intelligence and Data Science</a:t>
            </a:r>
          </a:p>
          <a:p>
            <a:pPr>
              <a:spcAft>
                <a:spcPts val="400"/>
              </a:spcAft>
              <a:defRPr sz="1000" b="0">
                <a:solidFill>
                  <a:srgbClr val="000000"/>
                </a:solidFill>
                <a:latin typeface="Cambria"/>
              </a:defRPr>
            </a:pPr>
          </a:p>
          <a:p>
            <a:pPr>
              <a:spcAft>
                <a:spcPts val="400"/>
              </a:spcAft>
              <a:defRPr sz="2000" b="1">
                <a:solidFill>
                  <a:srgbClr val="660066"/>
                </a:solidFill>
                <a:latin typeface="Cambria"/>
              </a:defRPr>
            </a:pPr>
            <a:r>
              <a:t>INSTITUTION &amp; METADATA:</a:t>
            </a:r>
          </a:p>
          <a:p>
            <a:pPr>
              <a:spcAft>
                <a:spcPts val="400"/>
              </a:spcAft>
              <a:defRPr sz="1800" b="0">
                <a:solidFill>
                  <a:srgbClr val="000000"/>
                </a:solidFill>
                <a:latin typeface="Cambria"/>
              </a:defRPr>
            </a:pPr>
            <a:r>
              <a:t>• Department of Artificial Intelligence and Data Science, Bannari Amman Institute of Technology</a:t>
            </a:r>
          </a:p>
          <a:p>
            <a:pPr>
              <a:spcAft>
                <a:spcPts val="400"/>
              </a:spcAft>
              <a:defRPr sz="1800" b="0">
                <a:solidFill>
                  <a:srgbClr val="000000"/>
                </a:solidFill>
                <a:latin typeface="Cambria"/>
              </a:defRPr>
            </a:pPr>
            <a:r>
              <a:t>• BIP Project ID: [Insert BIP Project ID] | Category: Internal - Own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lIns="0" tIns="0">
            <a:spAutoFit/>
          </a:bodyPr>
          <a:lstStyle/>
          <a:p>
            <a:pPr>
              <a:defRPr sz="2400" b="1">
                <a:solidFill>
                  <a:srgbClr val="002060"/>
                </a:solidFill>
                <a:latin typeface="Cambria"/>
              </a:defRPr>
            </a:pPr>
            <a:r>
              <a:t>ABSTRACT</a:t>
            </a:r>
          </a:p>
        </p:txBody>
      </p:sp>
      <p:sp>
        <p:nvSpPr>
          <p:cNvPr id="3" name="TextBox 2"/>
          <p:cNvSpPr txBox="1"/>
          <p:nvPr/>
        </p:nvSpPr>
        <p:spPr>
          <a:xfrm>
            <a:off x="731520" y="1188720"/>
            <a:ext cx="10728655" cy="5120640"/>
          </a:xfrm>
          <a:prstGeom prst="rect">
            <a:avLst/>
          </a:prstGeom>
          <a:noFill/>
        </p:spPr>
        <p:txBody>
          <a:bodyPr wrap="square">
            <a:spAutoFit/>
          </a:bodyPr>
          <a:lstStyle/>
          <a:p>
            <a:pPr>
              <a:spcAft>
                <a:spcPts val="800"/>
              </a:spcAft>
              <a:defRPr sz="1800">
                <a:solidFill>
                  <a:srgbClr val="000000"/>
                </a:solidFill>
                <a:latin typeface="Cambria"/>
              </a:defRPr>
            </a:pPr>
            <a:r>
              <a:t>Access to government welfare schemes, agricultural advisories, and civic benefits remains challenging for vast segments of rural India due to low digital literacy, language barriers, and reliance on colloquial regional dialects.</a:t>
            </a:r>
            <a:br/>
            <a:br/>
            <a:r>
              <a:t>GovConnect Edge is a voice-first, multilingual AI assistant that enables citizens to inquire about welfare schemes in their native regional tongues over simple IVR telephony lines or mobile applications.</a:t>
            </a:r>
            <a:br/>
            <a:br/>
            <a:r>
              <a:t>The system integrates Automatic Speech Recognition (ASR), Neural Machine Translation (NMT), an IndicBERT Natural Language Understanding (NLU) layer, a grounded ChromaDB Retrieval-Augmented Generation (RAG) vector database, and Text-to-Speech (TTS) synthesis.</a:t>
            </a:r>
            <a:br/>
            <a:br/>
            <a:r>
              <a:t>Key Targeted Metrics: 9+ regional language support, 70%+ dialect accent adaptability, sub-1.0s online latency, and sub-1.5s offline edge execution on low-cost hardware (Raspberry Pi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lIns="0" tIns="0">
            <a:spAutoFit/>
          </a:bodyPr>
          <a:lstStyle/>
          <a:p>
            <a:pPr>
              <a:defRPr sz="2400" b="1">
                <a:solidFill>
                  <a:srgbClr val="002060"/>
                </a:solidFill>
                <a:latin typeface="Cambria"/>
              </a:defRPr>
            </a:pPr>
            <a:r>
              <a:t>AIM &amp; OBJECTIVES / PROBLEM DEFINITION</a:t>
            </a:r>
          </a:p>
        </p:txBody>
      </p:sp>
      <p:sp>
        <p:nvSpPr>
          <p:cNvPr id="3" name="TextBox 2"/>
          <p:cNvSpPr txBox="1"/>
          <p:nvPr/>
        </p:nvSpPr>
        <p:spPr>
          <a:xfrm>
            <a:off x="731520" y="1188720"/>
            <a:ext cx="10728655" cy="5120640"/>
          </a:xfrm>
          <a:prstGeom prst="rect">
            <a:avLst/>
          </a:prstGeom>
          <a:noFill/>
        </p:spPr>
        <p:txBody>
          <a:bodyPr wrap="square">
            <a:spAutoFit/>
          </a:bodyPr>
          <a:lstStyle/>
          <a:p/>
          <a:p>
            <a:pPr>
              <a:spcAft>
                <a:spcPts val="400"/>
              </a:spcAft>
              <a:defRPr sz="2200" b="1">
                <a:solidFill>
                  <a:srgbClr val="800000"/>
                </a:solidFill>
                <a:latin typeface="Cambria"/>
              </a:defRPr>
            </a:pPr>
            <a:r>
              <a:t>PROBLEM DEFINITION</a:t>
            </a:r>
          </a:p>
          <a:p>
            <a:pPr>
              <a:spcAft>
                <a:spcPts val="400"/>
              </a:spcAft>
              <a:defRPr sz="1700" b="0">
                <a:solidFill>
                  <a:srgbClr val="000000"/>
                </a:solidFill>
                <a:latin typeface="Cambria"/>
              </a:defRPr>
            </a:pPr>
            <a:r>
              <a:t>• Rural Exclusion: Over 80% of rural citizens are excluded from e-Gov portals due to English/Hindi text dominance and low digital literacy.</a:t>
            </a:r>
          </a:p>
          <a:p>
            <a:pPr>
              <a:spcAft>
                <a:spcPts val="400"/>
              </a:spcAft>
              <a:defRPr sz="1700" b="0">
                <a:solidFill>
                  <a:srgbClr val="000000"/>
                </a:solidFill>
                <a:latin typeface="Cambria"/>
              </a:defRPr>
            </a:pPr>
            <a:r>
              <a:t>• Information Costs: Citizens lose daily wages traveling to block offices to inquire about basic scheme statuses.</a:t>
            </a:r>
          </a:p>
          <a:p>
            <a:pPr>
              <a:spcAft>
                <a:spcPts val="400"/>
              </a:spcAft>
              <a:defRPr sz="1700" b="0">
                <a:solidFill>
                  <a:srgbClr val="000000"/>
                </a:solidFill>
                <a:latin typeface="Cambria"/>
              </a:defRPr>
            </a:pPr>
            <a:r>
              <a:t>• LLM Hallucinations: Generic cloud LLMs often generate inaccurate policy information without domain grounding.</a:t>
            </a:r>
          </a:p>
          <a:p>
            <a:pPr>
              <a:spcAft>
                <a:spcPts val="400"/>
              </a:spcAft>
              <a:defRPr sz="800" b="0">
                <a:solidFill>
                  <a:srgbClr val="000000"/>
                </a:solidFill>
                <a:latin typeface="Cambria"/>
              </a:defRPr>
            </a:pPr>
          </a:p>
          <a:p>
            <a:pPr>
              <a:spcAft>
                <a:spcPts val="400"/>
              </a:spcAft>
              <a:defRPr sz="2200" b="1">
                <a:solidFill>
                  <a:srgbClr val="006600"/>
                </a:solidFill>
                <a:latin typeface="Cambria"/>
              </a:defRPr>
            </a:pPr>
            <a:r>
              <a:t>PROJECT AIM</a:t>
            </a:r>
          </a:p>
          <a:p>
            <a:pPr>
              <a:spcAft>
                <a:spcPts val="400"/>
              </a:spcAft>
              <a:defRPr sz="1700" b="1">
                <a:solidFill>
                  <a:srgbClr val="000000"/>
                </a:solidFill>
                <a:latin typeface="Cambria"/>
              </a:defRPr>
            </a:pPr>
            <a:r>
              <a:t>"To design and develop a multilingual, dialect-adaptive voice AI assistant enabling rural citizens to access government welfare service details conversationally in their native tongue."</a:t>
            </a:r>
          </a:p>
          <a:p>
            <a:pPr>
              <a:spcAft>
                <a:spcPts val="400"/>
              </a:spcAft>
              <a:defRPr sz="800" b="0">
                <a:solidFill>
                  <a:srgbClr val="000000"/>
                </a:solidFill>
                <a:latin typeface="Cambria"/>
              </a:defRPr>
            </a:pPr>
          </a:p>
          <a:p>
            <a:pPr>
              <a:spcAft>
                <a:spcPts val="400"/>
              </a:spcAft>
              <a:defRPr sz="2200" b="1">
                <a:solidFill>
                  <a:srgbClr val="660066"/>
                </a:solidFill>
                <a:latin typeface="Cambria"/>
              </a:defRPr>
            </a:pPr>
            <a:r>
              <a:t>KEY OBJECTIVES</a:t>
            </a:r>
          </a:p>
          <a:p>
            <a:pPr>
              <a:spcAft>
                <a:spcPts val="400"/>
              </a:spcAft>
              <a:defRPr sz="1700" b="0">
                <a:solidFill>
                  <a:srgbClr val="000000"/>
                </a:solidFill>
                <a:latin typeface="Cambria"/>
              </a:defRPr>
            </a:pPr>
            <a:r>
              <a:t>1. Fine-tune ASR models (Whisper/IndicASR) for 70%+ colloquial dialect adaptability.</a:t>
            </a:r>
          </a:p>
          <a:p>
            <a:pPr>
              <a:spcAft>
                <a:spcPts val="400"/>
              </a:spcAft>
              <a:defRPr sz="1700" b="0">
                <a:solidFill>
                  <a:srgbClr val="000000"/>
                </a:solidFill>
                <a:latin typeface="Cambria"/>
              </a:defRPr>
            </a:pPr>
            <a:r>
              <a:t>2. Construct a grounded ChromaDB vector store for zero-hallucination scheme retrieval.</a:t>
            </a:r>
          </a:p>
          <a:p>
            <a:pPr>
              <a:spcAft>
                <a:spcPts val="400"/>
              </a:spcAft>
              <a:defRPr sz="1700" b="0">
                <a:solidFill>
                  <a:srgbClr val="000000"/>
                </a:solidFill>
                <a:latin typeface="Cambria"/>
              </a:defRPr>
            </a:pPr>
            <a:r>
              <a:t>3. Optimize pipeline latency via 8-bit post-training quantization for sub-1.5s edge execution.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lIns="0" tIns="0">
            <a:spAutoFit/>
          </a:bodyPr>
          <a:lstStyle/>
          <a:p>
            <a:pPr>
              <a:defRPr sz="2400" b="1">
                <a:solidFill>
                  <a:srgbClr val="002060"/>
                </a:solidFill>
                <a:latin typeface="Cambria"/>
              </a:defRPr>
            </a:pPr>
            <a:r>
              <a:t>LITERATURE SURVEY</a:t>
            </a:r>
          </a:p>
        </p:txBody>
      </p:sp>
      <p:graphicFrame>
        <p:nvGraphicFramePr>
          <p:cNvPr id="3" name="Table 2"/>
          <p:cNvGraphicFramePr>
            <a:graphicFrameLocks noGrp="1"/>
          </p:cNvGraphicFramePr>
          <p:nvPr/>
        </p:nvGraphicFramePr>
        <p:xfrm>
          <a:off x="731520" y="1188720"/>
          <a:ext cx="10728655" cy="5120640"/>
        </p:xfrm>
        <a:graphic>
          <a:graphicData uri="http://schemas.openxmlformats.org/drawingml/2006/table">
            <a:tbl>
              <a:tblPr firstRow="1" bandRow="1">
                <a:tableStyleId>{5C22544A-7EE6-4342-B048-85BDC9FD1C3A}</a:tableStyleId>
              </a:tblPr>
              <a:tblGrid>
                <a:gridCol w="731520"/>
                <a:gridCol w="3291840"/>
                <a:gridCol w="3291840"/>
                <a:gridCol w="3413455"/>
              </a:tblGrid>
              <a:tr h="1024128">
                <a:tc>
                  <a:txBody>
                    <a:bodyPr wrap="square" tIns="73152" bIns="73152"/>
                    <a:lstStyle/>
                    <a:p>
                      <a:pPr algn="ctr">
                        <a:defRPr sz="1200" b="1">
                          <a:solidFill>
                            <a:srgbClr val="FFFFFF"/>
                          </a:solidFill>
                          <a:latin typeface="Cambria"/>
                        </a:defRPr>
                      </a:pPr>
                      <a:r>
                        <a:t>Sl.No.</a:t>
                      </a:r>
                    </a:p>
                  </a:txBody>
                  <a:tcPr>
                    <a:solidFill>
                      <a:srgbClr val="003399"/>
                    </a:solidFill>
                  </a:tcPr>
                </a:tc>
                <a:tc>
                  <a:txBody>
                    <a:bodyPr wrap="square" tIns="73152" bIns="73152"/>
                    <a:lstStyle/>
                    <a:p>
                      <a:pPr algn="l">
                        <a:defRPr sz="1200" b="1">
                          <a:solidFill>
                            <a:srgbClr val="FFFFFF"/>
                          </a:solidFill>
                          <a:latin typeface="Cambria"/>
                        </a:defRPr>
                      </a:pPr>
                      <a:r>
                        <a:t>Journal Paper Title with Author (IEEE Format)</a:t>
                      </a:r>
                    </a:p>
                  </a:txBody>
                  <a:tcPr>
                    <a:solidFill>
                      <a:srgbClr val="003399"/>
                    </a:solidFill>
                  </a:tcPr>
                </a:tc>
                <a:tc>
                  <a:txBody>
                    <a:bodyPr wrap="square" tIns="73152" bIns="73152"/>
                    <a:lstStyle/>
                    <a:p>
                      <a:pPr algn="l">
                        <a:defRPr sz="1200" b="1">
                          <a:solidFill>
                            <a:srgbClr val="FFFFFF"/>
                          </a:solidFill>
                          <a:latin typeface="Cambria"/>
                        </a:defRPr>
                      </a:pPr>
                      <a:r>
                        <a:t>Works Carried Out (Methods/Algorithms/Tools)</a:t>
                      </a:r>
                    </a:p>
                  </a:txBody>
                  <a:tcPr>
                    <a:solidFill>
                      <a:srgbClr val="003399"/>
                    </a:solidFill>
                  </a:tcPr>
                </a:tc>
                <a:tc>
                  <a:txBody>
                    <a:bodyPr wrap="square" tIns="73152" bIns="73152"/>
                    <a:lstStyle/>
                    <a:p>
                      <a:pPr algn="l">
                        <a:defRPr sz="1200" b="1">
                          <a:solidFill>
                            <a:srgbClr val="FFFFFF"/>
                          </a:solidFill>
                          <a:latin typeface="Cambria"/>
                        </a:defRPr>
                      </a:pPr>
                      <a:r>
                        <a:t>Information Gathered Relevant to Project</a:t>
                      </a:r>
                    </a:p>
                  </a:txBody>
                  <a:tcPr>
                    <a:solidFill>
                      <a:srgbClr val="003399"/>
                    </a:solidFill>
                  </a:tcPr>
                </a:tc>
              </a:tr>
              <a:tr h="1024128">
                <a:tc>
                  <a:txBody>
                    <a:bodyPr wrap="square" tIns="73152" bIns="73152"/>
                    <a:lstStyle/>
                    <a:p>
                      <a:pPr algn="ctr">
                        <a:defRPr sz="1100" b="1">
                          <a:solidFill>
                            <a:srgbClr val="000000"/>
                          </a:solidFill>
                          <a:latin typeface="Cambria"/>
                        </a:defRPr>
                      </a:pPr>
                      <a:r>
                        <a:t>1</a:t>
                      </a:r>
                    </a:p>
                  </a:txBody>
                  <a:tcPr>
                    <a:solidFill>
                      <a:srgbClr val="F5F7FA"/>
                    </a:solidFill>
                  </a:tcPr>
                </a:tc>
                <a:tc>
                  <a:txBody>
                    <a:bodyPr wrap="square" tIns="73152" bIns="73152"/>
                    <a:lstStyle/>
                    <a:p>
                      <a:pPr algn="l">
                        <a:defRPr sz="1000" b="0">
                          <a:solidFill>
                            <a:srgbClr val="000000"/>
                          </a:solidFill>
                          <a:latin typeface="Cambria"/>
                        </a:defRPr>
                      </a:pPr>
                      <a:r>
                        <a:t>P. Lewis et al., "Retrieval-augmented generation for knowledge-intensive NLP tasks," Advances in Neural Information Processing Systems (NeurIPS), vol. 33, pp. 9459–9474, 2020.</a:t>
                      </a:r>
                    </a:p>
                  </a:txBody>
                  <a:tcPr>
                    <a:solidFill>
                      <a:srgbClr val="F5F7FA"/>
                    </a:solidFill>
                  </a:tcPr>
                </a:tc>
                <a:tc>
                  <a:txBody>
                    <a:bodyPr wrap="square" tIns="73152" bIns="73152"/>
                    <a:lstStyle/>
                    <a:p>
                      <a:pPr algn="l">
                        <a:defRPr sz="1000" b="0">
                          <a:solidFill>
                            <a:srgbClr val="000000"/>
                          </a:solidFill>
                          <a:latin typeface="Cambria"/>
                        </a:defRPr>
                      </a:pPr>
                      <a:r>
                        <a:t>Developed original RAG framework combining neural retrieval with generative seq2seq models.</a:t>
                      </a:r>
                    </a:p>
                  </a:txBody>
                  <a:tcPr>
                    <a:solidFill>
                      <a:srgbClr val="F5F7FA"/>
                    </a:solidFill>
                  </a:tcPr>
                </a:tc>
                <a:tc>
                  <a:txBody>
                    <a:bodyPr wrap="square" tIns="73152" bIns="73152"/>
                    <a:lstStyle/>
                    <a:p>
                      <a:pPr algn="l">
                        <a:defRPr sz="1000" b="0">
                          <a:solidFill>
                            <a:srgbClr val="000000"/>
                          </a:solidFill>
                          <a:latin typeface="Cambria"/>
                        </a:defRPr>
                      </a:pPr>
                      <a:r>
                        <a:t>Empirically proved RAG drastically cuts model hallucinations by strictly anchoring output text to verified vector stores.</a:t>
                      </a:r>
                    </a:p>
                  </a:txBody>
                  <a:tcPr>
                    <a:solidFill>
                      <a:srgbClr val="F5F7FA"/>
                    </a:solidFill>
                  </a:tcPr>
                </a:tc>
              </a:tr>
              <a:tr h="1024128">
                <a:tc>
                  <a:txBody>
                    <a:bodyPr wrap="square" tIns="73152" bIns="73152"/>
                    <a:lstStyle/>
                    <a:p>
                      <a:pPr algn="ctr">
                        <a:defRPr sz="1100" b="1">
                          <a:solidFill>
                            <a:srgbClr val="000000"/>
                          </a:solidFill>
                          <a:latin typeface="Cambria"/>
                        </a:defRPr>
                      </a:pPr>
                      <a:r>
                        <a:t>2</a:t>
                      </a:r>
                    </a:p>
                  </a:txBody>
                  <a:tcPr>
                    <a:solidFill>
                      <a:srgbClr val="FFFFFF"/>
                    </a:solidFill>
                  </a:tcPr>
                </a:tc>
                <a:tc>
                  <a:txBody>
                    <a:bodyPr wrap="square" tIns="73152" bIns="73152"/>
                    <a:lstStyle/>
                    <a:p>
                      <a:pPr algn="l">
                        <a:defRPr sz="1000" b="0">
                          <a:solidFill>
                            <a:srgbClr val="000000"/>
                          </a:solidFill>
                          <a:latin typeface="Cambria"/>
                        </a:defRPr>
                      </a:pPr>
                      <a:r>
                        <a:t>AI4Bharat, "IndicVoices &amp; IndicASR: Speech datasets and benchmarks for Indian languages," IIT Madras Technical Report, 2024.</a:t>
                      </a:r>
                    </a:p>
                  </a:txBody>
                  <a:tcPr>
                    <a:solidFill>
                      <a:srgbClr val="FFFFFF"/>
                    </a:solidFill>
                  </a:tcPr>
                </a:tc>
                <a:tc>
                  <a:txBody>
                    <a:bodyPr wrap="square" tIns="73152" bIns="73152"/>
                    <a:lstStyle/>
                    <a:p>
                      <a:pPr algn="l">
                        <a:defRPr sz="1000" b="0">
                          <a:solidFill>
                            <a:srgbClr val="000000"/>
                          </a:solidFill>
                          <a:latin typeface="Cambria"/>
                        </a:defRPr>
                      </a:pPr>
                      <a:r>
                        <a:t>Curated 12,000-hour speech corpus across 208 districts; trained IndicASR acoustic models.</a:t>
                      </a:r>
                    </a:p>
                  </a:txBody>
                  <a:tcPr>
                    <a:solidFill>
                      <a:srgbClr val="FFFFFF"/>
                    </a:solidFill>
                  </a:tcPr>
                </a:tc>
                <a:tc>
                  <a:txBody>
                    <a:bodyPr wrap="square" tIns="73152" bIns="73152"/>
                    <a:lstStyle/>
                    <a:p>
                      <a:pPr algn="l">
                        <a:defRPr sz="1000" b="0">
                          <a:solidFill>
                            <a:srgbClr val="000000"/>
                          </a:solidFill>
                          <a:latin typeface="Cambria"/>
                        </a:defRPr>
                      </a:pPr>
                      <a:r>
                        <a:t>Provided baseline speech-to-text models and localized acoustic datasets across 20+ Indian languages.</a:t>
                      </a:r>
                    </a:p>
                  </a:txBody>
                  <a:tcPr>
                    <a:solidFill>
                      <a:srgbClr val="FFFFFF"/>
                    </a:solidFill>
                  </a:tcPr>
                </a:tc>
              </a:tr>
              <a:tr h="1024128">
                <a:tc>
                  <a:txBody>
                    <a:bodyPr wrap="square" tIns="73152" bIns="73152"/>
                    <a:lstStyle/>
                    <a:p>
                      <a:pPr algn="ctr">
                        <a:defRPr sz="1100" b="1">
                          <a:solidFill>
                            <a:srgbClr val="000000"/>
                          </a:solidFill>
                          <a:latin typeface="Cambria"/>
                        </a:defRPr>
                      </a:pPr>
                      <a:r>
                        <a:t>3</a:t>
                      </a:r>
                    </a:p>
                  </a:txBody>
                  <a:tcPr>
                    <a:solidFill>
                      <a:srgbClr val="F5F7FA"/>
                    </a:solidFill>
                  </a:tcPr>
                </a:tc>
                <a:tc>
                  <a:txBody>
                    <a:bodyPr wrap="square" tIns="73152" bIns="73152"/>
                    <a:lstStyle/>
                    <a:p>
                      <a:pPr algn="l">
                        <a:defRPr sz="1000" b="0">
                          <a:solidFill>
                            <a:srgbClr val="000000"/>
                          </a:solidFill>
                          <a:latin typeface="Cambria"/>
                        </a:defRPr>
                      </a:pPr>
                      <a:r>
                        <a:t>OpenNyAI &amp; IIT Madras, "Jugalbandi: Conversational AI for community welfare access," OpenNyAI Architecture Report, 2023.</a:t>
                      </a:r>
                    </a:p>
                  </a:txBody>
                  <a:tcPr>
                    <a:solidFill>
                      <a:srgbClr val="F5F7FA"/>
                    </a:solidFill>
                  </a:tcPr>
                </a:tc>
                <a:tc>
                  <a:txBody>
                    <a:bodyPr wrap="square" tIns="73152" bIns="73152"/>
                    <a:lstStyle/>
                    <a:p>
                      <a:pPr algn="l">
                        <a:defRPr sz="1000" b="0">
                          <a:solidFill>
                            <a:srgbClr val="000000"/>
                          </a:solidFill>
                          <a:latin typeface="Cambria"/>
                        </a:defRPr>
                      </a:pPr>
                      <a:r>
                        <a:t>Built generative WhatsApp voice assistant querying 171 welfare schemes via AI4Bharat models.</a:t>
                      </a:r>
                    </a:p>
                  </a:txBody>
                  <a:tcPr>
                    <a:solidFill>
                      <a:srgbClr val="F5F7FA"/>
                    </a:solidFill>
                  </a:tcPr>
                </a:tc>
                <a:tc>
                  <a:txBody>
                    <a:bodyPr wrap="square" tIns="73152" bIns="73152"/>
                    <a:lstStyle/>
                    <a:p>
                      <a:pPr algn="l">
                        <a:defRPr sz="1000" b="0">
                          <a:solidFill>
                            <a:srgbClr val="000000"/>
                          </a:solidFill>
                          <a:latin typeface="Cambria"/>
                        </a:defRPr>
                      </a:pPr>
                      <a:r>
                        <a:t>Identified gap: WhatsApp deployment excludes feature phone users and relies on expensive commercial cloud LLMs.</a:t>
                      </a:r>
                    </a:p>
                  </a:txBody>
                  <a:tcPr>
                    <a:solidFill>
                      <a:srgbClr val="F5F7FA"/>
                    </a:solidFill>
                  </a:tcPr>
                </a:tc>
              </a:tr>
              <a:tr h="1024128">
                <a:tc>
                  <a:txBody>
                    <a:bodyPr wrap="square" tIns="73152" bIns="73152"/>
                    <a:lstStyle/>
                    <a:p>
                      <a:pPr algn="ctr">
                        <a:defRPr sz="1100" b="1">
                          <a:solidFill>
                            <a:srgbClr val="000000"/>
                          </a:solidFill>
                          <a:latin typeface="Cambria"/>
                        </a:defRPr>
                      </a:pPr>
                      <a:r>
                        <a:t>4</a:t>
                      </a:r>
                    </a:p>
                  </a:txBody>
                  <a:tcPr>
                    <a:solidFill>
                      <a:srgbClr val="FFFFFF"/>
                    </a:solidFill>
                  </a:tcPr>
                </a:tc>
                <a:tc>
                  <a:txBody>
                    <a:bodyPr wrap="square" tIns="73152" bIns="73152"/>
                    <a:lstStyle/>
                    <a:p>
                      <a:pPr algn="l">
                        <a:defRPr sz="1000" b="0">
                          <a:solidFill>
                            <a:srgbClr val="000000"/>
                          </a:solidFill>
                          <a:latin typeface="Cambria"/>
                        </a:defRPr>
                      </a:pPr>
                      <a:r>
                        <a:t>Sarvam AI, "Sovereign voice-to-voice stack for regional Indian languages," Sarvam AI Technical Report, 2024.</a:t>
                      </a:r>
                    </a:p>
                  </a:txBody>
                  <a:tcPr>
                    <a:solidFill>
                      <a:srgbClr val="FFFFFF"/>
                    </a:solidFill>
                  </a:tcPr>
                </a:tc>
                <a:tc>
                  <a:txBody>
                    <a:bodyPr wrap="square" tIns="73152" bIns="73152"/>
                    <a:lstStyle/>
                    <a:p>
                      <a:pPr algn="l">
                        <a:defRPr sz="1000" b="0">
                          <a:solidFill>
                            <a:srgbClr val="000000"/>
                          </a:solidFill>
                          <a:latin typeface="Cambria"/>
                        </a:defRPr>
                      </a:pPr>
                      <a:r>
                        <a:t>Created custom Saaras ASR, Bulbul TTS, and Sarvam-2B LLM achieving sub-500ms latency.</a:t>
                      </a:r>
                    </a:p>
                  </a:txBody>
                  <a:tcPr>
                    <a:solidFill>
                      <a:srgbClr val="FFFFFF"/>
                    </a:solidFill>
                  </a:tcPr>
                </a:tc>
                <a:tc>
                  <a:txBody>
                    <a:bodyPr wrap="square" tIns="73152" bIns="73152"/>
                    <a:lstStyle/>
                    <a:p>
                      <a:pPr algn="l">
                        <a:defRPr sz="1000" b="0">
                          <a:solidFill>
                            <a:srgbClr val="000000"/>
                          </a:solidFill>
                          <a:latin typeface="Cambria"/>
                        </a:defRPr>
                      </a:pPr>
                      <a:r>
                        <a:t>Proved viability of sovereign Indic models; highlighted need for open, low-bandwidth edge IVR architectures.</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lIns="0" tIns="0">
            <a:spAutoFit/>
          </a:bodyPr>
          <a:lstStyle/>
          <a:p>
            <a:pPr>
              <a:defRPr sz="2400" b="1">
                <a:solidFill>
                  <a:srgbClr val="002060"/>
                </a:solidFill>
                <a:latin typeface="Cambria"/>
              </a:defRPr>
            </a:pPr>
            <a:r>
              <a:t>PROPOSED WORK AND METHODOLOGY</a:t>
            </a:r>
          </a:p>
        </p:txBody>
      </p:sp>
      <p:sp>
        <p:nvSpPr>
          <p:cNvPr id="3" name="TextBox 2"/>
          <p:cNvSpPr txBox="1"/>
          <p:nvPr/>
        </p:nvSpPr>
        <p:spPr>
          <a:xfrm>
            <a:off x="731520" y="1188720"/>
            <a:ext cx="10728655" cy="5120640"/>
          </a:xfrm>
          <a:prstGeom prst="rect">
            <a:avLst/>
          </a:prstGeom>
          <a:noFill/>
        </p:spPr>
        <p:txBody>
          <a:bodyPr wrap="square">
            <a:spAutoFit/>
          </a:bodyPr>
          <a:lstStyle/>
          <a:p/>
          <a:p>
            <a:pPr>
              <a:spcAft>
                <a:spcPts val="300"/>
              </a:spcAft>
              <a:defRPr sz="2200" b="1">
                <a:solidFill>
                  <a:srgbClr val="006600"/>
                </a:solidFill>
                <a:latin typeface="Cambria"/>
              </a:defRPr>
            </a:pPr>
            <a:r>
              <a:t>Cascaded Voice-to-Voice Architecture &amp; Technical Workflow</a:t>
            </a:r>
          </a:p>
          <a:p>
            <a:pPr>
              <a:spcAft>
                <a:spcPts val="300"/>
              </a:spcAft>
              <a:defRPr sz="600" b="0">
                <a:solidFill>
                  <a:srgbClr val="000000"/>
                </a:solidFill>
                <a:latin typeface="Cambria"/>
              </a:defRPr>
            </a:pPr>
          </a:p>
          <a:p>
            <a:pPr>
              <a:spcAft>
                <a:spcPts val="300"/>
              </a:spcAft>
              <a:defRPr sz="1800" b="1">
                <a:solidFill>
                  <a:srgbClr val="800000"/>
                </a:solidFill>
                <a:latin typeface="Cambria"/>
              </a:defRPr>
            </a:pPr>
            <a:r>
              <a:t>1. Telephony &amp; Voice Input Stage:</a:t>
            </a:r>
          </a:p>
          <a:p>
            <a:pPr>
              <a:spcAft>
                <a:spcPts val="300"/>
              </a:spcAft>
              <a:defRPr sz="1700" b="0">
                <a:solidFill>
                  <a:srgbClr val="000000"/>
                </a:solidFill>
                <a:latin typeface="Cambria"/>
              </a:defRPr>
            </a:pPr>
            <a:r>
              <a:t>   Citizen dials in via basic IVR telephony or mobile application.</a:t>
            </a:r>
          </a:p>
          <a:p>
            <a:pPr>
              <a:spcAft>
                <a:spcPts val="300"/>
              </a:spcAft>
              <a:defRPr sz="1800" b="1">
                <a:solidFill>
                  <a:srgbClr val="800000"/>
                </a:solidFill>
                <a:latin typeface="Cambria"/>
              </a:defRPr>
            </a:pPr>
            <a:r>
              <a:t>2. Dialect ASR Stage:</a:t>
            </a:r>
          </a:p>
          <a:p>
            <a:pPr>
              <a:spcAft>
                <a:spcPts val="300"/>
              </a:spcAft>
              <a:defRPr sz="1700" b="0">
                <a:solidFill>
                  <a:srgbClr val="000000"/>
                </a:solidFill>
                <a:latin typeface="Cambria"/>
              </a:defRPr>
            </a:pPr>
            <a:r>
              <a:t>   Fine-tuned Whisper / IndicASR transcribes rural spoken speech into regional text.</a:t>
            </a:r>
          </a:p>
          <a:p>
            <a:pPr>
              <a:spcAft>
                <a:spcPts val="300"/>
              </a:spcAft>
              <a:defRPr sz="1800" b="1">
                <a:solidFill>
                  <a:srgbClr val="800000"/>
                </a:solidFill>
                <a:latin typeface="Cambria"/>
              </a:defRPr>
            </a:pPr>
            <a:r>
              <a:t>3. IndicBERT NLU Intent Layer:</a:t>
            </a:r>
          </a:p>
          <a:p>
            <a:pPr>
              <a:spcAft>
                <a:spcPts val="300"/>
              </a:spcAft>
              <a:defRPr sz="1700" b="0">
                <a:solidFill>
                  <a:srgbClr val="000000"/>
                </a:solidFill>
                <a:latin typeface="Cambria"/>
              </a:defRPr>
            </a:pPr>
            <a:r>
              <a:t>   IndicBERT extracts query intents (eligibility, document requirements) and key entities.</a:t>
            </a:r>
          </a:p>
          <a:p>
            <a:pPr>
              <a:spcAft>
                <a:spcPts val="300"/>
              </a:spcAft>
              <a:defRPr sz="1800" b="1">
                <a:solidFill>
                  <a:srgbClr val="800000"/>
                </a:solidFill>
                <a:latin typeface="Cambria"/>
              </a:defRPr>
            </a:pPr>
            <a:r>
              <a:t>4. Grounded Vector RAG Retrieval:</a:t>
            </a:r>
          </a:p>
          <a:p>
            <a:pPr>
              <a:spcAft>
                <a:spcPts val="300"/>
              </a:spcAft>
              <a:defRPr sz="1700" b="0">
                <a:solidFill>
                  <a:srgbClr val="000000"/>
                </a:solidFill>
                <a:latin typeface="Cambria"/>
              </a:defRPr>
            </a:pPr>
            <a:r>
              <a:t>   ChromaDB vector database performs semantic search over indexed e-Gov welfare policy records.</a:t>
            </a:r>
          </a:p>
          <a:p>
            <a:pPr>
              <a:spcAft>
                <a:spcPts val="300"/>
              </a:spcAft>
              <a:defRPr sz="1800" b="1">
                <a:solidFill>
                  <a:srgbClr val="800000"/>
                </a:solidFill>
                <a:latin typeface="Cambria"/>
              </a:defRPr>
            </a:pPr>
            <a:r>
              <a:t>5. Factual LLM Response Generation:</a:t>
            </a:r>
          </a:p>
          <a:p>
            <a:pPr>
              <a:spcAft>
                <a:spcPts val="300"/>
              </a:spcAft>
              <a:defRPr sz="1700" b="0">
                <a:solidFill>
                  <a:srgbClr val="000000"/>
                </a:solidFill>
                <a:latin typeface="Cambria"/>
              </a:defRPr>
            </a:pPr>
            <a:r>
              <a:t>   Sovereign LLM writes an accurate answer anchored strictly to retrieved scheme guidelines.</a:t>
            </a:r>
          </a:p>
          <a:p>
            <a:pPr>
              <a:spcAft>
                <a:spcPts val="300"/>
              </a:spcAft>
              <a:defRPr sz="1800" b="1">
                <a:solidFill>
                  <a:srgbClr val="800000"/>
                </a:solidFill>
                <a:latin typeface="Cambria"/>
              </a:defRPr>
            </a:pPr>
            <a:r>
              <a:t>6. Expressive TTS Audio Synthesis:</a:t>
            </a:r>
          </a:p>
          <a:p>
            <a:pPr>
              <a:spcAft>
                <a:spcPts val="300"/>
              </a:spcAft>
              <a:defRPr sz="1700" b="0">
                <a:solidFill>
                  <a:srgbClr val="000000"/>
                </a:solidFill>
                <a:latin typeface="Cambria"/>
              </a:defRPr>
            </a:pPr>
            <a:r>
              <a:t>   AI4BTTS engine synthesizes text back into localized, expressive regional audio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lIns="0" tIns="0">
            <a:spAutoFit/>
          </a:bodyPr>
          <a:lstStyle/>
          <a:p>
            <a:pPr>
              <a:defRPr sz="2400" b="1">
                <a:solidFill>
                  <a:srgbClr val="002060"/>
                </a:solidFill>
                <a:latin typeface="Cambria"/>
              </a:defRPr>
            </a:pPr>
            <a:r>
              <a:t>INDIVIDUAL CONTRIBUTION OF BATCH MEMBER</a:t>
            </a:r>
          </a:p>
        </p:txBody>
      </p:sp>
      <p:sp>
        <p:nvSpPr>
          <p:cNvPr id="3" name="TextBox 2"/>
          <p:cNvSpPr txBox="1"/>
          <p:nvPr/>
        </p:nvSpPr>
        <p:spPr>
          <a:xfrm>
            <a:off x="731520" y="1188720"/>
            <a:ext cx="10728655" cy="5120640"/>
          </a:xfrm>
          <a:prstGeom prst="rect">
            <a:avLst/>
          </a:prstGeom>
          <a:noFill/>
        </p:spPr>
        <p:txBody>
          <a:bodyPr wrap="square">
            <a:spAutoFit/>
          </a:bodyPr>
          <a:lstStyle/>
          <a:p/>
          <a:p>
            <a:pPr>
              <a:spcAft>
                <a:spcPts val="500"/>
              </a:spcAft>
              <a:defRPr sz="2200" b="1">
                <a:solidFill>
                  <a:srgbClr val="002060"/>
                </a:solidFill>
                <a:latin typeface="Cambria"/>
              </a:defRPr>
            </a:pPr>
            <a:r>
              <a:t>Batch Member 2: SARAN V (Reg No: 7376242AD294)</a:t>
            </a:r>
          </a:p>
          <a:p>
            <a:pPr>
              <a:spcAft>
                <a:spcPts val="500"/>
              </a:spcAft>
              <a:defRPr sz="2000" b="1">
                <a:solidFill>
                  <a:srgbClr val="800000"/>
                </a:solidFill>
                <a:latin typeface="Cambria"/>
              </a:defRPr>
            </a:pPr>
            <a:r>
              <a:t>Role: Student 2 — NLU, RAG &amp; Edge Systems Specialist</a:t>
            </a:r>
          </a:p>
          <a:p>
            <a:pPr>
              <a:spcAft>
                <a:spcPts val="500"/>
              </a:spcAft>
              <a:defRPr sz="800" b="0">
                <a:solidFill>
                  <a:srgbClr val="000000"/>
                </a:solidFill>
                <a:latin typeface="Cambria"/>
              </a:defRPr>
            </a:pPr>
          </a:p>
          <a:p>
            <a:pPr>
              <a:spcAft>
                <a:spcPts val="500"/>
              </a:spcAft>
              <a:defRPr sz="1900" b="1">
                <a:solidFill>
                  <a:srgbClr val="660066"/>
                </a:solidFill>
                <a:latin typeface="Cambria"/>
              </a:defRPr>
            </a:pPr>
            <a:r>
              <a:t>1. NLU Intent Classification &amp; Schema:</a:t>
            </a:r>
          </a:p>
          <a:p>
            <a:pPr>
              <a:spcAft>
                <a:spcPts val="500"/>
              </a:spcAft>
              <a:defRPr sz="1800" b="0">
                <a:solidFill>
                  <a:srgbClr val="000000"/>
                </a:solidFill>
                <a:latin typeface="Cambria"/>
              </a:defRPr>
            </a:pPr>
            <a:r>
              <a:t>   Configured IndicBERT and EmoBERTa classification taxonomies to parse rural citizen query intents.</a:t>
            </a:r>
          </a:p>
          <a:p>
            <a:pPr>
              <a:spcAft>
                <a:spcPts val="500"/>
              </a:spcAft>
              <a:defRPr sz="1900" b="1">
                <a:solidFill>
                  <a:srgbClr val="660066"/>
                </a:solidFill>
                <a:latin typeface="Cambria"/>
              </a:defRPr>
            </a:pPr>
            <a:r>
              <a:t>2. ChromaDB Vector Database &amp; RAG Pipeline:</a:t>
            </a:r>
          </a:p>
          <a:p>
            <a:pPr>
              <a:spcAft>
                <a:spcPts val="500"/>
              </a:spcAft>
              <a:defRPr sz="1800" b="0">
                <a:solidFill>
                  <a:srgbClr val="000000"/>
                </a:solidFill>
                <a:latin typeface="Cambria"/>
              </a:defRPr>
            </a:pPr>
            <a:r>
              <a:t>   Curated official e-Gov welfare PDFs and structured the ChromaDB vector database for semantic retrieval.</a:t>
            </a:r>
          </a:p>
          <a:p>
            <a:pPr>
              <a:spcAft>
                <a:spcPts val="500"/>
              </a:spcAft>
              <a:defRPr sz="1900" b="1">
                <a:solidFill>
                  <a:srgbClr val="660066"/>
                </a:solidFill>
                <a:latin typeface="Cambria"/>
              </a:defRPr>
            </a:pPr>
            <a:r>
              <a:t>3. 8-Bit Model Quantization Strategy:</a:t>
            </a:r>
          </a:p>
          <a:p>
            <a:pPr>
              <a:spcAft>
                <a:spcPts val="500"/>
              </a:spcAft>
              <a:defRPr sz="1800" b="0">
                <a:solidFill>
                  <a:srgbClr val="000000"/>
                </a:solidFill>
                <a:latin typeface="Cambria"/>
              </a:defRPr>
            </a:pPr>
            <a:r>
              <a:t>   Formulated post-training INT8 weight compression to optimize deep neural networks for low-power edge hardware.</a:t>
            </a:r>
          </a:p>
          <a:p>
            <a:pPr>
              <a:spcAft>
                <a:spcPts val="500"/>
              </a:spcAft>
              <a:defRPr sz="1900" b="1">
                <a:solidFill>
                  <a:srgbClr val="660066"/>
                </a:solidFill>
                <a:latin typeface="Cambria"/>
              </a:defRPr>
            </a:pPr>
            <a:r>
              <a:t>4. Backend System &amp; Containerization:</a:t>
            </a:r>
          </a:p>
          <a:p>
            <a:pPr>
              <a:spcAft>
                <a:spcPts val="500"/>
              </a:spcAft>
              <a:defRPr sz="1800" b="0">
                <a:solidFill>
                  <a:srgbClr val="000000"/>
                </a:solidFill>
                <a:latin typeface="Cambria"/>
              </a:defRPr>
            </a:pPr>
            <a:r>
              <a:t>   Wrote Python FastAPI backend microservices and containerized deployment for edge/IVR execution.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lIns="0" tIns="0">
            <a:spAutoFit/>
          </a:bodyPr>
          <a:lstStyle/>
          <a:p>
            <a:pPr>
              <a:defRPr sz="2400" b="1">
                <a:solidFill>
                  <a:srgbClr val="002060"/>
                </a:solidFill>
                <a:latin typeface="Cambria"/>
              </a:defRPr>
            </a:pPr>
            <a:r>
              <a:t>INDIVIDUAL CONTRIBUTION OF BATCH MEMBER</a:t>
            </a:r>
          </a:p>
        </p:txBody>
      </p:sp>
      <p:sp>
        <p:nvSpPr>
          <p:cNvPr id="3" name="TextBox 2"/>
          <p:cNvSpPr txBox="1"/>
          <p:nvPr/>
        </p:nvSpPr>
        <p:spPr>
          <a:xfrm>
            <a:off x="731520" y="1188720"/>
            <a:ext cx="10728655" cy="5120640"/>
          </a:xfrm>
          <a:prstGeom prst="rect">
            <a:avLst/>
          </a:prstGeom>
          <a:noFill/>
        </p:spPr>
        <p:txBody>
          <a:bodyPr wrap="square">
            <a:spAutoFit/>
          </a:bodyPr>
          <a:lstStyle/>
          <a:p/>
          <a:p>
            <a:pPr>
              <a:spcAft>
                <a:spcPts val="500"/>
              </a:spcAft>
              <a:defRPr sz="2200" b="1">
                <a:solidFill>
                  <a:srgbClr val="002060"/>
                </a:solidFill>
                <a:latin typeface="Cambria"/>
              </a:defRPr>
            </a:pPr>
            <a:r>
              <a:t>Batch Member 1: SANJAY RATHINAM M. N. (Reg No: 7376242AD288)</a:t>
            </a:r>
          </a:p>
          <a:p>
            <a:pPr>
              <a:spcAft>
                <a:spcPts val="500"/>
              </a:spcAft>
              <a:defRPr sz="2000" b="1">
                <a:solidFill>
                  <a:srgbClr val="800000"/>
                </a:solidFill>
                <a:latin typeface="Cambria"/>
              </a:defRPr>
            </a:pPr>
            <a:r>
              <a:t>Role: Student 1 — Speech &amp; Language AI Specialist</a:t>
            </a:r>
          </a:p>
          <a:p>
            <a:pPr>
              <a:spcAft>
                <a:spcPts val="500"/>
              </a:spcAft>
              <a:defRPr sz="800" b="0">
                <a:solidFill>
                  <a:srgbClr val="000000"/>
                </a:solidFill>
                <a:latin typeface="Cambria"/>
              </a:defRPr>
            </a:pPr>
          </a:p>
          <a:p>
            <a:pPr>
              <a:spcAft>
                <a:spcPts val="500"/>
              </a:spcAft>
              <a:defRPr sz="1900" b="1">
                <a:solidFill>
                  <a:srgbClr val="660066"/>
                </a:solidFill>
                <a:latin typeface="Cambria"/>
              </a:defRPr>
            </a:pPr>
            <a:r>
              <a:t>1. Regional Speech Corpus Curation:</a:t>
            </a:r>
          </a:p>
          <a:p>
            <a:pPr>
              <a:spcAft>
                <a:spcPts val="500"/>
              </a:spcAft>
              <a:defRPr sz="1800" b="0">
                <a:solidFill>
                  <a:srgbClr val="000000"/>
                </a:solidFill>
                <a:latin typeface="Cambria"/>
              </a:defRPr>
            </a:pPr>
            <a:r>
              <a:t>   Organized and preprocessed rural dialect speech audio samples from AI4Bharat IndicVoices corpora.</a:t>
            </a:r>
          </a:p>
          <a:p>
            <a:pPr>
              <a:spcAft>
                <a:spcPts val="500"/>
              </a:spcAft>
              <a:defRPr sz="1900" b="1">
                <a:solidFill>
                  <a:srgbClr val="660066"/>
                </a:solidFill>
                <a:latin typeface="Cambria"/>
              </a:defRPr>
            </a:pPr>
            <a:r>
              <a:t>2. ASR Baseline &amp; WER Benchmarking:</a:t>
            </a:r>
          </a:p>
          <a:p>
            <a:pPr>
              <a:spcAft>
                <a:spcPts val="500"/>
              </a:spcAft>
              <a:defRPr sz="1800" b="0">
                <a:solidFill>
                  <a:srgbClr val="000000"/>
                </a:solidFill>
                <a:latin typeface="Cambria"/>
              </a:defRPr>
            </a:pPr>
            <a:r>
              <a:t>   Evaluated baseline Word Error Rate (WER) across Whisper and Wav2Vec 2.0 / IndicASR acoustic models.</a:t>
            </a:r>
          </a:p>
          <a:p>
            <a:pPr>
              <a:spcAft>
                <a:spcPts val="500"/>
              </a:spcAft>
              <a:defRPr sz="1900" b="1">
                <a:solidFill>
                  <a:srgbClr val="660066"/>
                </a:solidFill>
                <a:latin typeface="Cambria"/>
              </a:defRPr>
            </a:pPr>
            <a:r>
              <a:t>3. Translation Pipeline Setup:</a:t>
            </a:r>
          </a:p>
          <a:p>
            <a:pPr>
              <a:spcAft>
                <a:spcPts val="500"/>
              </a:spcAft>
              <a:defRPr sz="1800" b="0">
                <a:solidFill>
                  <a:srgbClr val="000000"/>
                </a:solidFill>
                <a:latin typeface="Cambria"/>
              </a:defRPr>
            </a:pPr>
            <a:r>
              <a:t>   Configured IndicTransv2 neural machine translation for routing multi-lingual queries dynamically.</a:t>
            </a:r>
          </a:p>
          <a:p>
            <a:pPr>
              <a:spcAft>
                <a:spcPts val="500"/>
              </a:spcAft>
              <a:defRPr sz="1900" b="1">
                <a:solidFill>
                  <a:srgbClr val="660066"/>
                </a:solidFill>
                <a:latin typeface="Cambria"/>
              </a:defRPr>
            </a:pPr>
            <a:r>
              <a:t>4. TTS Voice Synthesis &amp; Caching:</a:t>
            </a:r>
          </a:p>
          <a:p>
            <a:pPr>
              <a:spcAft>
                <a:spcPts val="500"/>
              </a:spcAft>
              <a:defRPr sz="1800" b="0">
                <a:solidFill>
                  <a:srgbClr val="000000"/>
                </a:solidFill>
                <a:latin typeface="Cambria"/>
              </a:defRPr>
            </a:pPr>
            <a:r>
              <a:t>   Profiled low-latency AI4BTTS engines and built audio caching layers for fast voice response playback.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